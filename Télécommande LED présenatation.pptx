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2B970-B4A7-BA39-304E-D4BC1E041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B393E3-7FB0-628F-2127-8951EDDBD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3548C5-5D93-5391-858A-3B0510D4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8CF08A-F051-AE51-5282-3BAE4906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6FB5E2-2AD1-D972-DA31-F63BA068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11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986D0-571C-D18C-182F-59D292B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23BB2-F48E-2C6A-3F70-CEAB91DC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ED239D-6251-F0B9-22D5-93A597BE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6E9622-73A1-B910-DFB0-D4526FEC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80AA48-C359-0FE8-E7BE-012D2D76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06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475ED-4381-D76E-656B-EF7D1F1F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3A3B24-889C-DEBE-5A94-5505DDE57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5CC57E-4E0F-F82B-70A9-7BCF7B70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14E23A-8247-3C52-A669-D6E3547A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45EB9-7C24-AB67-F6DB-C68EBEA8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74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61F8E-C971-F86B-2D23-32CFD123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839CFC-1406-F04E-B499-D2CB05BF8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C72177-56FA-BC42-4146-BA32E86A7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0BDC2C-A3A8-F97E-E286-FBAE703D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EEF485-443E-8E96-AB1F-D4ECD65B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6C0F87-9FD6-8596-8AEB-0394635E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62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33BCC-DA7D-68D7-13D2-593F1B93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7FCA8E-8940-8BD6-D9EC-8D6D8760C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95B43F-2A55-AC61-AAA9-2C063FF26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D43F63-DB34-0B78-F40D-2CD7F8F8C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46C50C8-7A4C-33A2-5498-1FE18B6E6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40DB61-F6F3-9F39-8C7D-41DDA478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570E25-9656-6DC9-9F5D-EA42D99E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7E1A5E-E1EF-D62E-C6DA-9A891D02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2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633C16-02F2-1AE8-4906-0A6A4831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67C8EE-6B08-F374-A49F-98AC9EEA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6AF898-C88A-DE90-72F1-9938A8B6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F943C2-D78F-9E12-2418-1FCE76AD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64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49283E-3EF0-7EBD-8789-3BFB652B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08EEDF-2244-3D4D-081E-EE126E30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7C2993-4CCD-81CF-0073-B4435578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86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717040-6514-2E7E-B9C4-E7252734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514073-CCE2-5D0C-9FC1-005D4A1EF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691A34-7261-3340-2C4F-FD6508C68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29BC26-B1BC-43CA-E4C9-B07E12BF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6C28DF-CAA8-A6F9-9D26-6F4B92A6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EC4FF4-502E-B141-A194-821A6E97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C1EF7-FFA2-E945-6320-A9F3DB86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206546A-B59A-B5A4-188C-E83C76D3D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8CC209-19EA-09F7-9059-B2875B540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3445C-34B1-9272-3DC5-40EFC39F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5C14D8-695E-9023-E0D9-F1DEF33F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C11990-4DB9-6C9F-3D26-9CB2EE45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87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DC7AF-511F-8A2C-208C-57719F37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8FEE9F-12B2-BE2D-D01B-99CF3236F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403433-BD6F-EE47-5AC4-A0D13046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EE4B19-C1F6-FE19-AE33-72624F31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0C2A35-77C7-1682-E3E0-2DF56F40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97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59012F-70BE-B36E-CBB1-A1C6173FC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34ABAC-87C3-2E78-1C52-D5637879D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869C00-6EEC-C46A-9F8F-E0D1CB90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8A59F8-2DE0-8AB2-C981-085EE679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B9F2B2-1C3F-B718-D52F-E3206690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26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7B0A38-CC58-5D85-CE0C-011667EA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118344-130F-ADC8-4476-DCDC5E84B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53BDC1-24C9-D08C-5C86-B1186C083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F8D4A-A184-48F6-90E9-0B8B0F68A5C4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A6B011-0F8D-FB59-E2E5-CDD22D327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733145-2E33-A5EE-3A82-9B1144CFB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11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4B856-F429-6731-88DD-4DC55AD7C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340"/>
            <a:ext cx="9144000" cy="1011860"/>
          </a:xfrm>
        </p:spPr>
        <p:txBody>
          <a:bodyPr/>
          <a:lstStyle/>
          <a:p>
            <a:r>
              <a:rPr lang="fr-FR" dirty="0"/>
              <a:t>Télécommande LED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8954EA-F264-3558-D760-F4A1AE10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688" y="2302600"/>
            <a:ext cx="3063505" cy="30635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2D1E53D-3E0A-416B-75F1-F9F66FB7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2133"/>
            <a:ext cx="2486761" cy="24227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55503B1-B897-57E7-8659-F63FE37FD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040" y="2385661"/>
            <a:ext cx="4854361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6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C314B-5324-425D-7BA9-75043B2F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Différentes parties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394E41-8AD0-891C-BABC-9B66F9E49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09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0FE7C-BD05-76A5-F8F3-0F0D3DE5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Dessin générale du modèle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E54084-574E-0FC5-490C-2043E9257F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304" y="1555816"/>
            <a:ext cx="8777317" cy="319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92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77A6C-46EB-23AC-9BE1-A3DB3745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Composants principaux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D5F547-7704-E655-E397-D857EE15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Emetteur et récepteur Carte nucléo, Carte pour les </a:t>
            </a:r>
            <a:r>
              <a:rPr lang="fr-FR" dirty="0" err="1"/>
              <a:t>leds</a:t>
            </a:r>
            <a:r>
              <a:rPr lang="fr-FR" dirty="0"/>
              <a:t>, </a:t>
            </a:r>
            <a:r>
              <a:rPr lang="fr-FR" dirty="0" err="1"/>
              <a:t>shield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C6C26B-759D-91BC-3C7E-617189AE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896" y="2846894"/>
            <a:ext cx="4126208" cy="250681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2BAA32-25C1-FA95-DED6-CDA5B256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82" y="2846894"/>
            <a:ext cx="2796782" cy="20956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08BF822-682A-C2D5-7B56-AE9FCF19D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536" y="2846894"/>
            <a:ext cx="2284157" cy="22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5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FADE0-FCFA-5CF9-9C59-EC29FECB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Planning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C5CC8BB-91D4-CAAC-8FB9-5839422A9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11" y="1543186"/>
            <a:ext cx="7266423" cy="53148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3BA5D8F-BFD7-3797-96ED-659BD375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837" y="2987644"/>
            <a:ext cx="4210788" cy="20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3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95FF5-9BEB-2FBE-CEB6-069AC3E0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Bon d’achat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48A88C9-C7A3-4142-ABCB-2A5F41577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322175"/>
              </p:ext>
            </p:extLst>
          </p:nvPr>
        </p:nvGraphicFramePr>
        <p:xfrm>
          <a:off x="323653" y="1690688"/>
          <a:ext cx="11488131" cy="4644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196">
                  <a:extLst>
                    <a:ext uri="{9D8B030D-6E8A-4147-A177-3AD203B41FA5}">
                      <a16:colId xmlns:a16="http://schemas.microsoft.com/office/drawing/2014/main" val="2354739426"/>
                    </a:ext>
                  </a:extLst>
                </a:gridCol>
                <a:gridCol w="154675">
                  <a:extLst>
                    <a:ext uri="{9D8B030D-6E8A-4147-A177-3AD203B41FA5}">
                      <a16:colId xmlns:a16="http://schemas.microsoft.com/office/drawing/2014/main" val="2004473524"/>
                    </a:ext>
                  </a:extLst>
                </a:gridCol>
                <a:gridCol w="154675">
                  <a:extLst>
                    <a:ext uri="{9D8B030D-6E8A-4147-A177-3AD203B41FA5}">
                      <a16:colId xmlns:a16="http://schemas.microsoft.com/office/drawing/2014/main" val="2057480699"/>
                    </a:ext>
                  </a:extLst>
                </a:gridCol>
                <a:gridCol w="304663">
                  <a:extLst>
                    <a:ext uri="{9D8B030D-6E8A-4147-A177-3AD203B41FA5}">
                      <a16:colId xmlns:a16="http://schemas.microsoft.com/office/drawing/2014/main" val="3158794353"/>
                    </a:ext>
                  </a:extLst>
                </a:gridCol>
                <a:gridCol w="7675161">
                  <a:extLst>
                    <a:ext uri="{9D8B030D-6E8A-4147-A177-3AD203B41FA5}">
                      <a16:colId xmlns:a16="http://schemas.microsoft.com/office/drawing/2014/main" val="2865949169"/>
                    </a:ext>
                  </a:extLst>
                </a:gridCol>
                <a:gridCol w="745251">
                  <a:extLst>
                    <a:ext uri="{9D8B030D-6E8A-4147-A177-3AD203B41FA5}">
                      <a16:colId xmlns:a16="http://schemas.microsoft.com/office/drawing/2014/main" val="1328665607"/>
                    </a:ext>
                  </a:extLst>
                </a:gridCol>
                <a:gridCol w="302319">
                  <a:extLst>
                    <a:ext uri="{9D8B030D-6E8A-4147-A177-3AD203B41FA5}">
                      <a16:colId xmlns:a16="http://schemas.microsoft.com/office/drawing/2014/main" val="3328426121"/>
                    </a:ext>
                  </a:extLst>
                </a:gridCol>
                <a:gridCol w="576515">
                  <a:extLst>
                    <a:ext uri="{9D8B030D-6E8A-4147-A177-3AD203B41FA5}">
                      <a16:colId xmlns:a16="http://schemas.microsoft.com/office/drawing/2014/main" val="705628873"/>
                    </a:ext>
                  </a:extLst>
                </a:gridCol>
                <a:gridCol w="585890">
                  <a:extLst>
                    <a:ext uri="{9D8B030D-6E8A-4147-A177-3AD203B41FA5}">
                      <a16:colId xmlns:a16="http://schemas.microsoft.com/office/drawing/2014/main" val="1661999738"/>
                    </a:ext>
                  </a:extLst>
                </a:gridCol>
                <a:gridCol w="433559">
                  <a:extLst>
                    <a:ext uri="{9D8B030D-6E8A-4147-A177-3AD203B41FA5}">
                      <a16:colId xmlns:a16="http://schemas.microsoft.com/office/drawing/2014/main" val="2186471013"/>
                    </a:ext>
                  </a:extLst>
                </a:gridCol>
                <a:gridCol w="281227">
                  <a:extLst>
                    <a:ext uri="{9D8B030D-6E8A-4147-A177-3AD203B41FA5}">
                      <a16:colId xmlns:a16="http://schemas.microsoft.com/office/drawing/2014/main" val="2800213864"/>
                    </a:ext>
                  </a:extLst>
                </a:gridCol>
              </a:tblGrid>
              <a:tr h="386780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Gotronic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Envoyez un seul fichier par mail!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710351470"/>
                  </a:ext>
                </a:extLst>
              </a:tr>
              <a:tr h="3867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Pos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Art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Désignation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Qté commandée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UA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Date Livraison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Prix unitaire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Devise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Q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050000646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Émetteur infrarouge_GT1087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2.00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225584056"/>
                  </a:ext>
                </a:extLst>
              </a:tr>
              <a:tr h="2291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Récepteur infrarouge_GT1089 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 dirty="0">
                          <a:effectLst/>
                        </a:rPr>
                        <a:t>1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2.00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450844252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30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Condensateur 100 nF_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999427761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Barrettes Femelles_Barrette sécable STB20 : permet de se brancher sur la nucléo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2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0.69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691898410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Résistance 47 Ω (ou 33 Ω)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178324088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60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Diode émettrice TSAL6200 : emet la lumière codé quand on appui sur un bouton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0.29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000100088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Transistor: • NPN : 2N2222: Pour amplifier le signal de la led Infra rouge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0.15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181260607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Bouttons poussoirs- R1381R: permet d'allumer ou d'étteindre les leds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5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1.25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759661984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Résistance 330 </a:t>
                      </a:r>
                      <a:r>
                        <a:rPr lang="el-GR" sz="900" u="none" strike="noStrike">
                          <a:effectLst/>
                        </a:rPr>
                        <a:t>Ω</a:t>
                      </a:r>
                      <a:endParaRPr lang="el-G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2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428997969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Résistance 220 </a:t>
                      </a:r>
                      <a:r>
                        <a:rPr lang="el-GR" sz="900" u="none" strike="noStrike">
                          <a:effectLst/>
                        </a:rPr>
                        <a:t>Ω</a:t>
                      </a:r>
                      <a:endParaRPr lang="el-G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3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155596327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Condensateur 10 uF 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601625084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ATTINY85-2PU Microcontroleur : lis le signal du recepteur, interprète la commande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1.51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45501614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130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LED MP008267: les leds à commander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4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1.07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059333232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Frais de transport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4.50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535466849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Date: 26.02.2023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22642562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160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677749090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52546571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921925415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 dirty="0">
                          <a:effectLst/>
                        </a:rPr>
                        <a:t>PC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4152069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51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DE20E-CD53-19C7-A54C-8CD04FB18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52"/>
            <a:ext cx="10515600" cy="1325563"/>
          </a:xfrm>
        </p:spPr>
        <p:txBody>
          <a:bodyPr/>
          <a:lstStyle/>
          <a:p>
            <a:r>
              <a:rPr lang="fr-FR" dirty="0"/>
              <a:t>Composants et schéma électrique carte </a:t>
            </a:r>
            <a:r>
              <a:rPr lang="fr-FR" dirty="0" err="1"/>
              <a:t>leds</a:t>
            </a:r>
            <a:r>
              <a:rPr lang="fr-FR" dirty="0"/>
              <a:t>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27B4460-C8F5-EE02-FCF6-1BEEFF251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793" y="979017"/>
            <a:ext cx="2485418" cy="21821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8BE9CF4-D014-CD1A-9BE3-E69227A7B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93" y="3235135"/>
            <a:ext cx="2552921" cy="141744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2220B97-1030-C1FF-673F-4A1B93159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17" y="4864066"/>
            <a:ext cx="2627743" cy="177240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A5B335B-9072-5636-6156-E65FF8ED3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939" y="1035362"/>
            <a:ext cx="4106927" cy="288984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A7093D8-7152-F95E-4D1A-95699CEE98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997" y="3776052"/>
            <a:ext cx="4724809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1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112E8-4BBE-1D57-D5FA-13DA3EBA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PCB routage et modèle 3D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63F3655-6724-90F0-344F-046AFD021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8489" y="4071320"/>
            <a:ext cx="2811561" cy="27740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1BE870D-A908-47DB-D1F8-2390AF7F0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45" y="1263192"/>
            <a:ext cx="3750808" cy="345610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22724C-48F2-1C90-CB74-C7DDDE28E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720" y="1399643"/>
            <a:ext cx="6637172" cy="27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1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3BD29-1A1A-E60D-F618-142F08D7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1"/>
            <a:ext cx="10515600" cy="1121735"/>
          </a:xfrm>
        </p:spPr>
        <p:txBody>
          <a:bodyPr/>
          <a:lstStyle/>
          <a:p>
            <a:pPr algn="ctr"/>
            <a:r>
              <a:rPr lang="fr-FR" dirty="0"/>
              <a:t>Composants  Shield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E973AC7-EA0C-AABC-F669-D23590C88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731919"/>
              </p:ext>
            </p:extLst>
          </p:nvPr>
        </p:nvGraphicFramePr>
        <p:xfrm>
          <a:off x="307660" y="967399"/>
          <a:ext cx="3981536" cy="5522954"/>
        </p:xfrm>
        <a:graphic>
          <a:graphicData uri="http://schemas.openxmlformats.org/drawingml/2006/table">
            <a:tbl>
              <a:tblPr/>
              <a:tblGrid>
                <a:gridCol w="603263">
                  <a:extLst>
                    <a:ext uri="{9D8B030D-6E8A-4147-A177-3AD203B41FA5}">
                      <a16:colId xmlns:a16="http://schemas.microsoft.com/office/drawing/2014/main" val="1675891394"/>
                    </a:ext>
                  </a:extLst>
                </a:gridCol>
                <a:gridCol w="857974">
                  <a:extLst>
                    <a:ext uri="{9D8B030D-6E8A-4147-A177-3AD203B41FA5}">
                      <a16:colId xmlns:a16="http://schemas.microsoft.com/office/drawing/2014/main" val="3115722363"/>
                    </a:ext>
                  </a:extLst>
                </a:gridCol>
                <a:gridCol w="2520299">
                  <a:extLst>
                    <a:ext uri="{9D8B030D-6E8A-4147-A177-3AD203B41FA5}">
                      <a16:colId xmlns:a16="http://schemas.microsoft.com/office/drawing/2014/main" val="856495403"/>
                    </a:ext>
                  </a:extLst>
                </a:gridCol>
              </a:tblGrid>
              <a:tr h="4758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Quantité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Désignation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Détails techniques (Important pour la commande)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601270"/>
                  </a:ext>
                </a:extLst>
              </a:tr>
              <a:tr h="89981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Boutons Poussoirs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(Tactile Switches)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Format standard </a:t>
                      </a:r>
                      <a:r>
                        <a:rPr lang="fr-FR" sz="900" b="1" i="0" dirty="0">
                          <a:effectLst/>
                          <a:latin typeface="Aptos" panose="020B0004020202020204" pitchFamily="34" charset="0"/>
                        </a:rPr>
                        <a:t>6x6mm</a:t>
                      </a: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 (traversant/THT). Ce sont les petits boutons noirs classiques à 4 pattes.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742752"/>
                  </a:ext>
                </a:extLst>
              </a:tr>
              <a:tr h="6878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LED Infrarouge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(IR Emitter)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Longueur d'onde :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940nm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(Standard télécommande). Diamètre :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5mm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13891"/>
                  </a:ext>
                </a:extLst>
              </a:tr>
              <a:tr h="6878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Transistor NPN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Référence :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2N2222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(ou PN2222, ou BC547). Indispensable pour amplifier le signal de la LED IR.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621801"/>
                  </a:ext>
                </a:extLst>
              </a:tr>
              <a:tr h="4758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Résistance 1 k</a:t>
                      </a:r>
                      <a:r>
                        <a:rPr lang="el-GR" sz="900" b="1" i="0">
                          <a:effectLst/>
                          <a:latin typeface="Aptos" panose="020B0004020202020204" pitchFamily="34" charset="0"/>
                        </a:rPr>
                        <a:t>Ω</a:t>
                      </a:r>
                      <a:r>
                        <a:rPr lang="el-G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l-G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(Code couleur : Marron-Noir-Rouge). Pour la base du transistor.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451959"/>
                  </a:ext>
                </a:extLst>
              </a:tr>
              <a:tr h="6878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Résistance 47 Ω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(ou 33 Ω)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Pour la LED IR. Cela permet de laisser passer environ 50-60mA pour une bonne portée.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25551"/>
                  </a:ext>
                </a:extLst>
              </a:tr>
              <a:tr h="89981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Barrettes Femelles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(Female Headers)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1x19 points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(ou plus long, sécable). Pas de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2.54mm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. C'est pour brancher ta carte Nucleo sur le PCB (le fameux sandwich).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59968"/>
                  </a:ext>
                </a:extLst>
              </a:tr>
              <a:tr h="70797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Entretoises M3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(Standoffs)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Nylon ou Laiton, 10mm ou 15mm + les vis/écrous. Pour que ton PCB tienne debout sur la table.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3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76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915B1-5E9F-7568-5920-94419738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Schéma électrique Shield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D2C24E0-0691-8112-B8EB-C34BEE701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99" y="1365615"/>
            <a:ext cx="3330229" cy="32540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3475B3-3A66-DFE5-DABE-48D061F9C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082" y="1477434"/>
            <a:ext cx="3368332" cy="25148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B103DB4-F9A3-137F-BE4F-16DC4A2B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689" y="1360902"/>
            <a:ext cx="3858811" cy="340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4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D934-4545-CA47-77D7-E6AB3D01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08115C-3D74-FCD3-85BA-18FC321B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Reste à faire: </a:t>
            </a:r>
          </a:p>
        </p:txBody>
      </p:sp>
    </p:spTree>
    <p:extLst>
      <p:ext uri="{BB962C8B-B14F-4D97-AF65-F5344CB8AC3E}">
        <p14:creationId xmlns:p14="http://schemas.microsoft.com/office/powerpoint/2010/main" val="19412657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486</Words>
  <Application>Microsoft Office PowerPoint</Application>
  <PresentationFormat>Grand écran</PresentationFormat>
  <Paragraphs>182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Aptos</vt:lpstr>
      <vt:lpstr>Arial</vt:lpstr>
      <vt:lpstr>Arial1</vt:lpstr>
      <vt:lpstr>Calibri</vt:lpstr>
      <vt:lpstr>Calibri Light</vt:lpstr>
      <vt:lpstr>Segoe UI</vt:lpstr>
      <vt:lpstr>Thème Office</vt:lpstr>
      <vt:lpstr>Télécommande LED</vt:lpstr>
      <vt:lpstr>Différentes parties</vt:lpstr>
      <vt:lpstr>Dessin générale du modèle</vt:lpstr>
      <vt:lpstr>Composants principaux</vt:lpstr>
      <vt:lpstr>Planning</vt:lpstr>
      <vt:lpstr>Bon d’achat </vt:lpstr>
      <vt:lpstr>Composants et schéma électrique carte leds </vt:lpstr>
      <vt:lpstr>PCB routage et modèle 3D</vt:lpstr>
      <vt:lpstr>Composants  Shield</vt:lpstr>
      <vt:lpstr>Schéma électrique Shield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Corinne YAMIN</dc:creator>
  <cp:lastModifiedBy>Corinne YAMIN</cp:lastModifiedBy>
  <cp:revision>3</cp:revision>
  <dcterms:created xsi:type="dcterms:W3CDTF">2026-03-15T18:43:23Z</dcterms:created>
  <dcterms:modified xsi:type="dcterms:W3CDTF">2026-03-15T18:59:27Z</dcterms:modified>
</cp:coreProperties>
</file>